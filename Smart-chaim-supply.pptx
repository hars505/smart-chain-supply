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7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Google Sans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793" y="9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8525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07f7ad1a1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c07f7ad1a1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c07f7ad1a1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Titan Core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r>
              <a:rPr lang="en-GB" sz="1800" b="1" dirty="0" err="1">
                <a:latin typeface="Google Sans"/>
                <a:ea typeface="Google Sans"/>
                <a:cs typeface="Google Sans"/>
                <a:sym typeface="Google Sans"/>
              </a:rPr>
              <a:t>Vishv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800" b="1" dirty="0" err="1">
                <a:latin typeface="Google Sans"/>
                <a:ea typeface="Google Sans"/>
                <a:cs typeface="Google Sans"/>
                <a:sym typeface="Google Sans"/>
              </a:rPr>
              <a:t>Jani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Global supply chains lose billions annually due to weather disruptions, port congestion, and geopolitical instability - with no unified real-time risk intelligence tool for logistics teams.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Supply Chain Intelligence API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rgbClr val="4285F4"/>
                </a:solidFill>
                <a:latin typeface="Google Sans"/>
              </a:rPr>
              <a:t>A real-time supply chain risk intelligence platform combining: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34A853"/>
                </a:solidFill>
                <a:latin typeface="Google Sans"/>
              </a:rPr>
              <a:t>Geolocation Services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(OpenStreetMap/OSRM) - Distance &amp; maritime routing for 30+ global ports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4285F4"/>
                </a:solidFill>
                <a:latin typeface="Google Sans"/>
              </a:rPr>
              <a:t>Real-Time Weather Data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(OpenWeatherMap) - Live port weather with risk scoring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EA4335"/>
                </a:solidFill>
                <a:latin typeface="Google Sans"/>
              </a:rPr>
              <a:t>ML Risk Scoring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- 6-factor weighted model: weather, ports, carrier, geopolitical, anomaly, dwell time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FBBC04"/>
                </a:solidFill>
                <a:latin typeface="Google Sans"/>
              </a:rPr>
              <a:t>Real-Time WebSocket Updates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+ Route Optimization for high-risk shipments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00" b="1" i="0" u="none" strike="noStrike" cap="none">
                <a:solidFill>
                  <a:srgbClr val="4285F4"/>
                </a:solidFill>
                <a:latin typeface="Google Sans"/>
              </a:rPr>
              <a:t>Key Result: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Risk Score 44.68/100 for Mumbai→Rotterdam (9,696.8 km) in under 2 seconds. All 8 endpoints tested and verified. Zero cost using free public APIs.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 &amp; USP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Unified Intelligence: Most tools handle weather OR routing OR risk separately. This API combines all three in a single POST /risk/analyze call - no other free solution does this.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Solves the Problem: Logistics teams get a single risk score (0-100) with component breakdown, top risk factors, distance, transit time, real-time weather, and a recommended action - all in under 2 seconds.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USP: Zero API cost (all free public APIs), production-ready async FastAPI supporting 100+ concurrent connections, graceful fallbacks, 110+ pages of documentation, and code examples in Python, JavaScript, Java, and cURL.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Features of Supply Chain Intelligence API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4285F4"/>
                </a:solidFill>
                <a:latin typeface="Google Sans"/>
              </a:rPr>
              <a:t>POST /risk/analyze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- Combined ML + Maps + Weather risk score (0-100) with component breakdown and recommendations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34A853"/>
                </a:solidFill>
                <a:latin typeface="Google Sans"/>
              </a:rPr>
              <a:t>GET /distance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- Maritime distance &amp; transit time between 30+ global ports (e.g. Mumbai-Rotterdam: 9,696.8 km, 14.4 days)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EA4335"/>
                </a:solidFill>
                <a:latin typeface="Google Sans"/>
              </a:rPr>
              <a:t>GET /weather &amp; GET /route-weather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- Live port weather with risk scoring (Dubai: 32.5°C, 18.3 km/h wind)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FBBC04"/>
                </a:solidFill>
                <a:latin typeface="Google Sans"/>
              </a:rPr>
              <a:t>GET /shipments/live &amp; GET /alerts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- Active shipment tracking with positions, ETAs, and real-time disruption alerts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4285F4"/>
                </a:solidFill>
                <a:latin typeface="Google Sans"/>
              </a:rPr>
              <a:t>POST /reroute/{id}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- Alternate route suggestions with cost/time comparisons for high-risk shipments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34A853"/>
                </a:solidFill>
                <a:latin typeface="Google Sans"/>
              </a:rPr>
              <a:t>WS /ws/shipments &amp; WS /ws/alerts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- WebSocket streaming for live position updates and real-time disruption alerts (&lt;50ms latency)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76034"/>
            <a:ext cx="4088777" cy="46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Flow: Risk Analysis Pipeline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300" b="1" i="0" u="none" strike="noStrike" cap="none" dirty="0">
                <a:solidFill>
                  <a:srgbClr val="4285F4"/>
                </a:solidFill>
                <a:latin typeface="Google Sans"/>
              </a:rPr>
              <a:t>Step 1 [User] 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Google Sans"/>
              </a:rPr>
              <a:t>POST /risk/</a:t>
            </a:r>
            <a:r>
              <a:rPr lang="en-GB" sz="1300" b="0" i="0" u="none" strike="noStrike" cap="none" dirty="0" err="1">
                <a:solidFill>
                  <a:srgbClr val="000000"/>
                </a:solidFill>
                <a:latin typeface="Google Sans"/>
              </a:rPr>
              <a:t>analyze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Google Sans"/>
              </a:rPr>
              <a:t> {</a:t>
            </a:r>
            <a:r>
              <a:rPr lang="en-GB" sz="1300" b="0" i="0" u="none" strike="noStrike" cap="none" dirty="0" err="1">
                <a:solidFill>
                  <a:srgbClr val="000000"/>
                </a:solidFill>
                <a:latin typeface="Google Sans"/>
              </a:rPr>
              <a:t>shipment_id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Google Sans"/>
              </a:rPr>
              <a:t>, origin, destination, carrier}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200" b="0" i="0" u="none" strike="noStrike" cap="none" dirty="0">
                <a:solidFill>
                  <a:srgbClr val="666666"/>
                </a:solidFill>
                <a:latin typeface="Google Sans"/>
              </a:rPr>
              <a:t>↓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300" b="1" i="0" u="none" strike="noStrike" cap="none" dirty="0">
                <a:solidFill>
                  <a:srgbClr val="34A853"/>
                </a:solidFill>
                <a:latin typeface="Google Sans"/>
              </a:rPr>
              <a:t>Step 2 [</a:t>
            </a:r>
            <a:r>
              <a:rPr lang="en-GB" sz="1300" b="1" i="0" u="none" strike="noStrike" cap="none" dirty="0" err="1">
                <a:solidFill>
                  <a:srgbClr val="34A853"/>
                </a:solidFill>
                <a:latin typeface="Google Sans"/>
              </a:rPr>
              <a:t>MapsService</a:t>
            </a:r>
            <a:r>
              <a:rPr lang="en-GB" sz="1300" b="1" i="0" u="none" strike="noStrike" cap="none" dirty="0">
                <a:solidFill>
                  <a:srgbClr val="34A853"/>
                </a:solidFill>
                <a:latin typeface="Google Sans"/>
              </a:rPr>
              <a:t>] </a:t>
            </a:r>
            <a:r>
              <a:rPr lang="en-GB" sz="1300" b="0" i="0" u="none" strike="noStrike" cap="none" dirty="0" err="1">
                <a:solidFill>
                  <a:srgbClr val="000000"/>
                </a:solidFill>
                <a:latin typeface="Google Sans"/>
              </a:rPr>
              <a:t>Nominatim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Google Sans"/>
              </a:rPr>
              <a:t> geocoding → OSRM maritime routing → Distance &amp; transit days calculated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300" b="1" i="0" u="none" strike="noStrike" cap="none" dirty="0">
                <a:solidFill>
                  <a:srgbClr val="EA4335"/>
                </a:solidFill>
                <a:latin typeface="Google Sans"/>
              </a:rPr>
              <a:t>Step 3 [</a:t>
            </a:r>
            <a:r>
              <a:rPr lang="en-GB" sz="1300" b="1" i="0" u="none" strike="noStrike" cap="none" dirty="0" err="1">
                <a:solidFill>
                  <a:srgbClr val="EA4335"/>
                </a:solidFill>
                <a:latin typeface="Google Sans"/>
              </a:rPr>
              <a:t>WeatherService</a:t>
            </a:r>
            <a:r>
              <a:rPr lang="en-GB" sz="1300" b="1" i="0" u="none" strike="noStrike" cap="none" dirty="0">
                <a:solidFill>
                  <a:srgbClr val="EA4335"/>
                </a:solidFill>
                <a:latin typeface="Google Sans"/>
              </a:rPr>
              <a:t>] </a:t>
            </a:r>
            <a:r>
              <a:rPr lang="en-GB" sz="1300" b="0" i="0" u="none" strike="noStrike" cap="none" dirty="0" err="1">
                <a:solidFill>
                  <a:srgbClr val="000000"/>
                </a:solidFill>
                <a:latin typeface="Google Sans"/>
              </a:rPr>
              <a:t>OpenWeatherMap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Google Sans"/>
              </a:rPr>
              <a:t> API → Live weather at origin &amp; destination ports → Weather risk score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300" b="1" i="0" u="none" strike="noStrike" cap="none" dirty="0">
                <a:solidFill>
                  <a:srgbClr val="FBBC04"/>
                </a:solidFill>
                <a:latin typeface="Google Sans"/>
              </a:rPr>
              <a:t>Step 4 [ML </a:t>
            </a:r>
            <a:r>
              <a:rPr lang="en-GB" sz="1300" b="1" i="0" u="none" strike="noStrike" cap="none" dirty="0" err="1">
                <a:solidFill>
                  <a:srgbClr val="FBBC04"/>
                </a:solidFill>
                <a:latin typeface="Google Sans"/>
              </a:rPr>
              <a:t>RiskScorer</a:t>
            </a:r>
            <a:r>
              <a:rPr lang="en-GB" sz="1300" b="1" i="0" u="none" strike="noStrike" cap="none" dirty="0">
                <a:solidFill>
                  <a:srgbClr val="FBBC04"/>
                </a:solidFill>
                <a:latin typeface="Google Sans"/>
              </a:rPr>
              <a:t>] 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Google Sans"/>
              </a:rPr>
              <a:t>6-factor weighted scoring: Weather(22%) + Ports(18%) + Carrier(15%) + Geopolitical(20%) + Anomaly(15%) + Dwell(10%)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300" b="1" i="0" u="none" strike="noStrike" cap="none" dirty="0">
                <a:solidFill>
                  <a:srgbClr val="4285F4"/>
                </a:solidFill>
                <a:latin typeface="Google Sans"/>
              </a:rPr>
              <a:t>Step 5 [Response] 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Google Sans"/>
              </a:rPr>
              <a:t>Risk score + level + component breakdown + top risk factors + recommended action (if risk &gt; 70: auto-generate /reroute)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6" descr="C:\Users\kalpe\Downloads\di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813" y="1109904"/>
            <a:ext cx="5172074" cy="3593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49"/>
            <a:ext cx="8723100" cy="367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Sample API Response - POST /risk/</a:t>
            </a:r>
            <a:r>
              <a:rPr lang="en-GB" sz="1800" b="0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analyze</a:t>
            </a:r>
            <a:endParaRPr lang="en-GB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100" b="0" i="0" u="none" strike="noStrike" cap="none" dirty="0">
                <a:solidFill>
                  <a:srgbClr val="1A1A2E"/>
                </a:solidFill>
                <a:latin typeface="Consolas"/>
              </a:rPr>
              <a:t>{ "</a:t>
            </a:r>
            <a:r>
              <a:rPr lang="en-GB" sz="1100" b="0" i="0" u="none" strike="noStrike" cap="none" dirty="0" err="1">
                <a:solidFill>
                  <a:srgbClr val="1A1A2E"/>
                </a:solidFill>
                <a:latin typeface="Consolas"/>
              </a:rPr>
              <a:t>shipment_id</a:t>
            </a:r>
            <a:r>
              <a:rPr lang="en-GB" sz="1100" b="0" i="0" u="none" strike="noStrike" cap="none" dirty="0">
                <a:solidFill>
                  <a:srgbClr val="1A1A2E"/>
                </a:solidFill>
                <a:latin typeface="Consolas"/>
              </a:rPr>
              <a:t>": "SHP-TEST-001",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 dirty="0">
                <a:solidFill>
                  <a:srgbClr val="EA4335"/>
                </a:solidFill>
                <a:latin typeface="Consolas"/>
              </a:rPr>
              <a:t>"</a:t>
            </a:r>
            <a:r>
              <a:rPr lang="en-GB" sz="1100" b="1" i="0" u="none" strike="noStrike" cap="none" dirty="0" err="1">
                <a:solidFill>
                  <a:srgbClr val="EA4335"/>
                </a:solidFill>
                <a:latin typeface="Consolas"/>
              </a:rPr>
              <a:t>risk_score</a:t>
            </a:r>
            <a:r>
              <a:rPr lang="en-GB" sz="1100" b="1" i="0" u="none" strike="noStrike" cap="none" dirty="0">
                <a:solidFill>
                  <a:srgbClr val="EA4335"/>
                </a:solidFill>
                <a:latin typeface="Consolas"/>
              </a:rPr>
              <a:t>"</a:t>
            </a:r>
            <a:r>
              <a:rPr lang="en-GB" sz="1100" b="0" i="0" u="none" strike="noStrike" cap="none" dirty="0">
                <a:solidFill>
                  <a:srgbClr val="1A1A2E"/>
                </a:solidFill>
                <a:latin typeface="Consolas"/>
              </a:rPr>
              <a:t>: 44.68,  </a:t>
            </a:r>
            <a:r>
              <a:rPr lang="en-GB" sz="1100" b="1" i="0" u="none" strike="noStrike" cap="none" dirty="0">
                <a:solidFill>
                  <a:srgbClr val="EA4335"/>
                </a:solidFill>
                <a:latin typeface="Consolas"/>
              </a:rPr>
              <a:t>"</a:t>
            </a:r>
            <a:r>
              <a:rPr lang="en-GB" sz="1100" b="1" i="0" u="none" strike="noStrike" cap="none" dirty="0" err="1">
                <a:solidFill>
                  <a:srgbClr val="EA4335"/>
                </a:solidFill>
                <a:latin typeface="Consolas"/>
              </a:rPr>
              <a:t>risk_level</a:t>
            </a:r>
            <a:r>
              <a:rPr lang="en-GB" sz="1100" b="1" i="0" u="none" strike="noStrike" cap="none" dirty="0">
                <a:solidFill>
                  <a:srgbClr val="EA4335"/>
                </a:solidFill>
                <a:latin typeface="Consolas"/>
              </a:rPr>
              <a:t>"</a:t>
            </a:r>
            <a:r>
              <a:rPr lang="en-GB" sz="1100" b="0" i="0" u="none" strike="noStrike" cap="none" dirty="0">
                <a:solidFill>
                  <a:srgbClr val="1A1A2E"/>
                </a:solidFill>
                <a:latin typeface="Consolas"/>
              </a:rPr>
              <a:t>: "medium",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 dirty="0">
                <a:solidFill>
                  <a:srgbClr val="34A853"/>
                </a:solidFill>
                <a:latin typeface="Consolas"/>
              </a:rPr>
              <a:t>"</a:t>
            </a:r>
            <a:r>
              <a:rPr lang="en-GB" sz="1100" b="1" i="0" u="none" strike="noStrike" cap="none" dirty="0" err="1">
                <a:solidFill>
                  <a:srgbClr val="34A853"/>
                </a:solidFill>
                <a:latin typeface="Consolas"/>
              </a:rPr>
              <a:t>distance_km</a:t>
            </a:r>
            <a:r>
              <a:rPr lang="en-GB" sz="1100" b="1" i="0" u="none" strike="noStrike" cap="none" dirty="0">
                <a:solidFill>
                  <a:srgbClr val="34A853"/>
                </a:solidFill>
                <a:latin typeface="Consolas"/>
              </a:rPr>
              <a:t>"</a:t>
            </a:r>
            <a:r>
              <a:rPr lang="en-GB" sz="1100" b="0" i="0" u="none" strike="noStrike" cap="none" dirty="0">
                <a:solidFill>
                  <a:srgbClr val="1A1A2E"/>
                </a:solidFill>
                <a:latin typeface="Consolas"/>
              </a:rPr>
              <a:t>: 9696.8,  </a:t>
            </a:r>
            <a:r>
              <a:rPr lang="en-GB" sz="1100" b="1" i="0" u="none" strike="noStrike" cap="none" dirty="0">
                <a:solidFill>
                  <a:srgbClr val="34A853"/>
                </a:solidFill>
                <a:latin typeface="Consolas"/>
              </a:rPr>
              <a:t>"</a:t>
            </a:r>
            <a:r>
              <a:rPr lang="en-GB" sz="1100" b="1" i="0" u="none" strike="noStrike" cap="none" dirty="0" err="1">
                <a:solidFill>
                  <a:srgbClr val="34A853"/>
                </a:solidFill>
                <a:latin typeface="Consolas"/>
              </a:rPr>
              <a:t>transit_days</a:t>
            </a:r>
            <a:r>
              <a:rPr lang="en-GB" sz="1100" b="1" i="0" u="none" strike="noStrike" cap="none" dirty="0">
                <a:solidFill>
                  <a:srgbClr val="34A853"/>
                </a:solidFill>
                <a:latin typeface="Consolas"/>
              </a:rPr>
              <a:t>"</a:t>
            </a:r>
            <a:r>
              <a:rPr lang="en-GB" sz="1100" b="0" i="0" u="none" strike="noStrike" cap="none" dirty="0">
                <a:solidFill>
                  <a:srgbClr val="1A1A2E"/>
                </a:solidFill>
                <a:latin typeface="Consolas"/>
              </a:rPr>
              <a:t>: 14.4,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 dirty="0">
                <a:solidFill>
                  <a:srgbClr val="4285F4"/>
                </a:solidFill>
                <a:latin typeface="Consolas"/>
              </a:rPr>
              <a:t>"</a:t>
            </a:r>
            <a:r>
              <a:rPr lang="en-GB" sz="1100" b="1" i="0" u="none" strike="noStrike" cap="none" dirty="0" err="1">
                <a:solidFill>
                  <a:srgbClr val="4285F4"/>
                </a:solidFill>
                <a:latin typeface="Consolas"/>
              </a:rPr>
              <a:t>top_risk_factors</a:t>
            </a:r>
            <a:r>
              <a:rPr lang="en-GB" sz="1100" b="1" i="0" u="none" strike="noStrike" cap="none" dirty="0">
                <a:solidFill>
                  <a:srgbClr val="4285F4"/>
                </a:solidFill>
                <a:latin typeface="Consolas"/>
              </a:rPr>
              <a:t>"</a:t>
            </a:r>
            <a:r>
              <a:rPr lang="en-GB" sz="1100" b="0" i="0" u="none" strike="noStrike" cap="none" dirty="0">
                <a:solidFill>
                  <a:srgbClr val="1A1A2E"/>
                </a:solidFill>
                <a:latin typeface="Consolas"/>
              </a:rPr>
              <a:t>: ["Severe weather at current location", "Elevated geopolitical risk", "High port congestion at destination"],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 dirty="0">
                <a:solidFill>
                  <a:srgbClr val="FBBC04"/>
                </a:solidFill>
                <a:latin typeface="Consolas"/>
              </a:rPr>
              <a:t>"</a:t>
            </a:r>
            <a:r>
              <a:rPr lang="en-GB" sz="1100" b="1" i="0" u="none" strike="noStrike" cap="none" dirty="0" err="1">
                <a:solidFill>
                  <a:srgbClr val="FBBC04"/>
                </a:solidFill>
                <a:latin typeface="Consolas"/>
              </a:rPr>
              <a:t>recommended_action</a:t>
            </a:r>
            <a:r>
              <a:rPr lang="en-GB" sz="1100" b="1" i="0" u="none" strike="noStrike" cap="none" dirty="0">
                <a:solidFill>
                  <a:srgbClr val="FBBC04"/>
                </a:solidFill>
                <a:latin typeface="Consolas"/>
              </a:rPr>
              <a:t>"</a:t>
            </a:r>
            <a:r>
              <a:rPr lang="en-GB" sz="1100" b="0" i="0" u="none" strike="noStrike" cap="none" dirty="0">
                <a:solidFill>
                  <a:srgbClr val="1A1A2E"/>
                </a:solidFill>
                <a:latin typeface="Consolas"/>
              </a:rPr>
              <a:t>: "Monitor closely. Consider notifying consignee." 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 dirty="0">
                <a:solidFill>
                  <a:srgbClr val="1A1A2E"/>
                </a:solidFill>
                <a:latin typeface="Consolas"/>
              </a:rPr>
              <a:t>}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100" dirty="0">
              <a:solidFill>
                <a:srgbClr val="1A1A2E"/>
              </a:solidFill>
              <a:latin typeface="Consolas"/>
            </a:endParaRPr>
          </a:p>
          <a:p>
            <a:pPr lvl="0">
              <a:spcBef>
                <a:spcPts val="200"/>
              </a:spcBef>
            </a:pPr>
            <a:r>
              <a:rPr lang="en-GB" sz="1100" dirty="0">
                <a:solidFill>
                  <a:srgbClr val="1A1A2E"/>
                </a:solidFill>
                <a:latin typeface="Consolas"/>
              </a:rPr>
              <a:t>{ "</a:t>
            </a:r>
            <a:r>
              <a:rPr lang="en-GB" sz="1100" dirty="0" err="1">
                <a:solidFill>
                  <a:srgbClr val="1A1A2E"/>
                </a:solidFill>
                <a:latin typeface="Consolas"/>
              </a:rPr>
              <a:t>shipment_id</a:t>
            </a:r>
            <a:r>
              <a:rPr lang="en-GB" sz="1100" dirty="0">
                <a:solidFill>
                  <a:srgbClr val="1A1A2E"/>
                </a:solidFill>
                <a:latin typeface="Consolas"/>
              </a:rPr>
              <a:t>": "SHP-TEST-002",</a:t>
            </a:r>
          </a:p>
          <a:p>
            <a:pPr marL="457200" lvl="0"/>
            <a:r>
              <a:rPr lang="en-GB" sz="1100" b="1" dirty="0">
                <a:solidFill>
                  <a:srgbClr val="EA4335"/>
                </a:solidFill>
                <a:latin typeface="Consolas"/>
              </a:rPr>
              <a:t>"</a:t>
            </a:r>
            <a:r>
              <a:rPr lang="en-GB" sz="1100" b="1" dirty="0" err="1">
                <a:solidFill>
                  <a:srgbClr val="EA4335"/>
                </a:solidFill>
                <a:latin typeface="Consolas"/>
              </a:rPr>
              <a:t>risk_score</a:t>
            </a:r>
            <a:r>
              <a:rPr lang="en-GB" sz="1100" b="1" dirty="0">
                <a:solidFill>
                  <a:srgbClr val="EA4335"/>
                </a:solidFill>
                <a:latin typeface="Consolas"/>
              </a:rPr>
              <a:t>"</a:t>
            </a:r>
            <a:r>
              <a:rPr lang="en-GB" sz="1100" dirty="0">
                <a:solidFill>
                  <a:srgbClr val="1A1A2E"/>
                </a:solidFill>
                <a:latin typeface="Consolas"/>
              </a:rPr>
              <a:t>: 10.58,  </a:t>
            </a:r>
            <a:r>
              <a:rPr lang="en-GB" sz="1100" b="1" dirty="0">
                <a:solidFill>
                  <a:srgbClr val="EA4335"/>
                </a:solidFill>
                <a:latin typeface="Consolas"/>
              </a:rPr>
              <a:t>"</a:t>
            </a:r>
            <a:r>
              <a:rPr lang="en-GB" sz="1100" b="1" dirty="0" err="1">
                <a:solidFill>
                  <a:srgbClr val="EA4335"/>
                </a:solidFill>
                <a:latin typeface="Consolas"/>
              </a:rPr>
              <a:t>risk_level</a:t>
            </a:r>
            <a:r>
              <a:rPr lang="en-GB" sz="1100" b="1" dirty="0">
                <a:solidFill>
                  <a:srgbClr val="EA4335"/>
                </a:solidFill>
                <a:latin typeface="Consolas"/>
              </a:rPr>
              <a:t>"</a:t>
            </a:r>
            <a:r>
              <a:rPr lang="en-GB" sz="1100" dirty="0">
                <a:solidFill>
                  <a:srgbClr val="1A1A2E"/>
                </a:solidFill>
                <a:latin typeface="Consolas"/>
              </a:rPr>
              <a:t>: “Low",</a:t>
            </a:r>
          </a:p>
          <a:p>
            <a:pPr marL="457200" lvl="0"/>
            <a:r>
              <a:rPr lang="en-GB" sz="1100" b="1" dirty="0">
                <a:solidFill>
                  <a:srgbClr val="34A853"/>
                </a:solidFill>
                <a:latin typeface="Consolas"/>
              </a:rPr>
              <a:t>"</a:t>
            </a:r>
            <a:r>
              <a:rPr lang="en-GB" sz="1100" b="1" dirty="0" err="1">
                <a:solidFill>
                  <a:srgbClr val="34A853"/>
                </a:solidFill>
                <a:latin typeface="Consolas"/>
              </a:rPr>
              <a:t>distance_km</a:t>
            </a:r>
            <a:r>
              <a:rPr lang="en-GB" sz="1100" b="1" dirty="0">
                <a:solidFill>
                  <a:srgbClr val="34A853"/>
                </a:solidFill>
                <a:latin typeface="Consolas"/>
              </a:rPr>
              <a:t>"</a:t>
            </a:r>
            <a:r>
              <a:rPr lang="en-GB" sz="1100" dirty="0">
                <a:solidFill>
                  <a:srgbClr val="1A1A2E"/>
                </a:solidFill>
                <a:latin typeface="Consolas"/>
              </a:rPr>
              <a:t>: 5006.8,  </a:t>
            </a:r>
            <a:r>
              <a:rPr lang="en-GB" sz="1100" b="1" dirty="0">
                <a:solidFill>
                  <a:srgbClr val="34A853"/>
                </a:solidFill>
                <a:latin typeface="Consolas"/>
              </a:rPr>
              <a:t>"</a:t>
            </a:r>
            <a:r>
              <a:rPr lang="en-GB" sz="1100" b="1" dirty="0" err="1">
                <a:solidFill>
                  <a:srgbClr val="34A853"/>
                </a:solidFill>
                <a:latin typeface="Consolas"/>
              </a:rPr>
              <a:t>transit_days</a:t>
            </a:r>
            <a:r>
              <a:rPr lang="en-GB" sz="1100" b="1" dirty="0">
                <a:solidFill>
                  <a:srgbClr val="34A853"/>
                </a:solidFill>
                <a:latin typeface="Consolas"/>
              </a:rPr>
              <a:t>"</a:t>
            </a:r>
            <a:r>
              <a:rPr lang="en-GB" sz="1100" dirty="0">
                <a:solidFill>
                  <a:srgbClr val="1A1A2E"/>
                </a:solidFill>
                <a:latin typeface="Consolas"/>
              </a:rPr>
              <a:t>: 11.0,</a:t>
            </a:r>
          </a:p>
          <a:p>
            <a:pPr marL="457200" lvl="0"/>
            <a:r>
              <a:rPr lang="en-GB" sz="1100" b="1" dirty="0">
                <a:solidFill>
                  <a:srgbClr val="4285F4"/>
                </a:solidFill>
                <a:latin typeface="Consolas"/>
              </a:rPr>
              <a:t>"</a:t>
            </a:r>
            <a:r>
              <a:rPr lang="en-GB" sz="1100" b="1" dirty="0" err="1">
                <a:solidFill>
                  <a:srgbClr val="4285F4"/>
                </a:solidFill>
                <a:latin typeface="Consolas"/>
              </a:rPr>
              <a:t>top_risk_factors</a:t>
            </a:r>
            <a:r>
              <a:rPr lang="en-GB" sz="1100" b="1" dirty="0">
                <a:solidFill>
                  <a:srgbClr val="4285F4"/>
                </a:solidFill>
                <a:latin typeface="Consolas"/>
              </a:rPr>
              <a:t>"</a:t>
            </a:r>
            <a:r>
              <a:rPr lang="en-GB" sz="1100" dirty="0">
                <a:solidFill>
                  <a:srgbClr val="1A1A2E"/>
                </a:solidFill>
                <a:latin typeface="Consolas"/>
              </a:rPr>
              <a:t>: ["Severe weather at current </a:t>
            </a:r>
            <a:r>
              <a:rPr lang="en-GB" sz="1100" dirty="0" err="1">
                <a:solidFill>
                  <a:srgbClr val="1A1A2E"/>
                </a:solidFill>
                <a:latin typeface="Consolas"/>
              </a:rPr>
              <a:t>location“,"High</a:t>
            </a:r>
            <a:r>
              <a:rPr lang="en-GB" sz="1100" dirty="0">
                <a:solidFill>
                  <a:srgbClr val="1A1A2E"/>
                </a:solidFill>
                <a:latin typeface="Consolas"/>
              </a:rPr>
              <a:t> port congestion at destination"],</a:t>
            </a:r>
          </a:p>
          <a:p>
            <a:pPr marL="457200" lvl="0"/>
            <a:r>
              <a:rPr lang="en-GB" sz="1100" b="1" dirty="0">
                <a:solidFill>
                  <a:srgbClr val="FBBC04"/>
                </a:solidFill>
                <a:latin typeface="Consolas"/>
              </a:rPr>
              <a:t>"</a:t>
            </a:r>
            <a:r>
              <a:rPr lang="en-GB" sz="1100" b="1" dirty="0" err="1">
                <a:solidFill>
                  <a:srgbClr val="FBBC04"/>
                </a:solidFill>
                <a:latin typeface="Consolas"/>
              </a:rPr>
              <a:t>recommended_action</a:t>
            </a:r>
            <a:r>
              <a:rPr lang="en-GB" sz="1100" b="1" dirty="0">
                <a:solidFill>
                  <a:srgbClr val="FBBC04"/>
                </a:solidFill>
                <a:latin typeface="Consolas"/>
              </a:rPr>
              <a:t>"</a:t>
            </a:r>
            <a:r>
              <a:rPr lang="en-GB" sz="1100" dirty="0">
                <a:solidFill>
                  <a:srgbClr val="1A1A2E"/>
                </a:solidFill>
                <a:latin typeface="Consolas"/>
              </a:rPr>
              <a:t>: "Monitor closely. Consider notifying consignee." </a:t>
            </a:r>
          </a:p>
          <a:p>
            <a:pPr marL="457200" lvl="0"/>
            <a:r>
              <a:rPr lang="en-GB" sz="1100" dirty="0">
                <a:solidFill>
                  <a:srgbClr val="1A1A2E"/>
                </a:solidFill>
                <a:latin typeface="Consolas"/>
              </a:rPr>
              <a:t>}</a:t>
            </a:r>
            <a:endParaRPr lang="en-GB"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100" b="0" i="0" u="none" strike="noStrike" cap="none" dirty="0">
              <a:solidFill>
                <a:srgbClr val="1A1A2E"/>
              </a:solidFill>
              <a:latin typeface="Consola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1" y="867425"/>
            <a:ext cx="3616089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System Architecture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1300" b="1" i="0" u="none" strike="noStrike" cap="none" dirty="0" err="1">
                <a:solidFill>
                  <a:srgbClr val="4285F4"/>
                </a:solidFill>
                <a:latin typeface="Google Sans"/>
              </a:rPr>
              <a:t>FastAPI</a:t>
            </a:r>
            <a:r>
              <a:rPr lang="en-GB" sz="1300" b="1" i="0" u="none" strike="noStrike" cap="none" dirty="0">
                <a:solidFill>
                  <a:srgbClr val="4285F4"/>
                </a:solidFill>
                <a:latin typeface="Google Sans"/>
              </a:rPr>
              <a:t> Backend (localhost:8000)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har char="•"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Consolas"/>
              </a:rPr>
              <a:t>NEW: POST /risk/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Consolas"/>
              </a:rPr>
              <a:t>analyze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/>
              </a:rPr>
              <a:t> | GET /distance | GET /weather | GET /route-weather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har char="•"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Consolas"/>
              </a:rPr>
              <a:t>Existing: GET /shipments/live | GET /alerts | POST /reroute | WS /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Consolas"/>
              </a:rPr>
              <a:t>ws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Consolas"/>
              </a:rPr>
              <a:t>/{topic}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1300" b="1" i="0" u="none" strike="noStrike" cap="none" dirty="0">
                <a:solidFill>
                  <a:srgbClr val="34A853"/>
                </a:solidFill>
                <a:latin typeface="Google Sans"/>
              </a:rPr>
              <a:t>Backend Services Layer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har char="•"/>
            </a:pPr>
            <a:r>
              <a:rPr lang="en-GB" sz="1200" b="1" i="0" u="none" strike="noStrike" cap="none" dirty="0" err="1">
                <a:solidFill>
                  <a:srgbClr val="4285F4"/>
                </a:solidFill>
                <a:latin typeface="Google Sans"/>
              </a:rPr>
              <a:t>MapsService</a:t>
            </a:r>
            <a:r>
              <a:rPr lang="en-GB" sz="1200" b="1" i="0" u="none" strike="noStrike" cap="none" dirty="0">
                <a:solidFill>
                  <a:srgbClr val="4285F4"/>
                </a:solidFill>
                <a:latin typeface="Google Sans"/>
              </a:rPr>
              <a:t> 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(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Google Sans"/>
              </a:rPr>
              <a:t>Nominatim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 geocoding + OSRM maritime routing + 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Google Sans"/>
              </a:rPr>
              <a:t>Haversine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 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Google Sans"/>
              </a:rPr>
              <a:t>fallback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)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har char="•"/>
            </a:pPr>
            <a:r>
              <a:rPr lang="en-GB" sz="1200" b="1" i="0" u="none" strike="noStrike" cap="none" dirty="0" err="1">
                <a:solidFill>
                  <a:srgbClr val="EA4335"/>
                </a:solidFill>
                <a:latin typeface="Google Sans"/>
              </a:rPr>
              <a:t>WeatherService</a:t>
            </a:r>
            <a:r>
              <a:rPr lang="en-GB" sz="1200" b="1" i="0" u="none" strike="noStrike" cap="none" dirty="0">
                <a:solidFill>
                  <a:srgbClr val="EA4335"/>
                </a:solidFill>
                <a:latin typeface="Google Sans"/>
              </a:rPr>
              <a:t> 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(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Google Sans"/>
              </a:rPr>
              <a:t>OpenWeatherMap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 API + mock 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Google Sans"/>
              </a:rPr>
              <a:t>fallback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)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har char="•"/>
            </a:pPr>
            <a:r>
              <a:rPr lang="en-GB" sz="1200" b="1" i="0" u="none" strike="noStrike" cap="none" dirty="0">
                <a:solidFill>
                  <a:srgbClr val="FBBC04"/>
                </a:solidFill>
                <a:latin typeface="Google Sans"/>
              </a:rPr>
              <a:t>ML </a:t>
            </a:r>
            <a:r>
              <a:rPr lang="en-GB" sz="1200" b="1" i="0" u="none" strike="noStrike" cap="none" dirty="0" err="1">
                <a:solidFill>
                  <a:srgbClr val="FBBC04"/>
                </a:solidFill>
                <a:latin typeface="Google Sans"/>
              </a:rPr>
              <a:t>RiskScorer</a:t>
            </a:r>
            <a:r>
              <a:rPr lang="en-GB" sz="1200" b="1" i="0" u="none" strike="noStrike" cap="none" dirty="0">
                <a:solidFill>
                  <a:srgbClr val="FBBC04"/>
                </a:solidFill>
                <a:latin typeface="Google Sans"/>
              </a:rPr>
              <a:t> 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(6-factor weighted model + anomaly detector + route optimizer)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har char="•"/>
            </a:pPr>
            <a:r>
              <a:rPr lang="en-GB" sz="1200" b="1" i="0" u="none" strike="noStrike" cap="none" dirty="0" err="1">
                <a:solidFill>
                  <a:srgbClr val="34A853"/>
                </a:solidFill>
                <a:latin typeface="Google Sans"/>
              </a:rPr>
              <a:t>FirebaseClient</a:t>
            </a:r>
            <a:r>
              <a:rPr lang="en-GB" sz="1200" b="1" i="0" u="none" strike="noStrike" cap="none" dirty="0">
                <a:solidFill>
                  <a:srgbClr val="34A853"/>
                </a:solidFill>
                <a:latin typeface="Google Sans"/>
              </a:rPr>
              <a:t> 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(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Google Sans"/>
              </a:rPr>
              <a:t>Firestore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 shipment data + 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Google Sans"/>
              </a:rPr>
              <a:t>WebSocket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 manager for real-time events)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140" y="943625"/>
            <a:ext cx="5052063" cy="3586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4285F4"/>
                </a:solidFill>
                <a:latin typeface="Google Sans"/>
              </a:rPr>
              <a:t>Backend: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Python 3.10, FastAPI, asyncio, uvicorn, Pydantic - Async/non-blocking, 100+ concurrent connections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34A853"/>
                </a:solidFill>
                <a:latin typeface="Google Sans"/>
              </a:rPr>
              <a:t>Maps &amp; Geo: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OpenStreetMap Nominatim (geocoding), OSRM (maritime routing), Haversine formula (fallback)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EA4335"/>
                </a:solidFill>
                <a:latin typeface="Google Sans"/>
              </a:rPr>
              <a:t>Weather: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OpenWeatherMap API (free tier, 60 calls/min) with mock fallback for resilience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FBBC04"/>
                </a:solidFill>
                <a:latin typeface="Google Sans"/>
              </a:rPr>
              <a:t>ML &amp; Data: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Custom weighted risk scorer, anomaly detector, route optimizer, 500K shipment dataset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4285F4"/>
                </a:solidFill>
                <a:latin typeface="Google Sans"/>
              </a:rPr>
              <a:t>Google Cloud: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Firebase Firestore (shipment data), Docker-ready for Cloud Run deployment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lang="en-GB" sz="1300" b="1" i="0" u="none" strike="noStrike" cap="none">
                <a:solidFill>
                  <a:srgbClr val="34A853"/>
                </a:solidFill>
                <a:latin typeface="Google Sans"/>
              </a:rPr>
              <a:t>Future - Google AI: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Google Sans"/>
              </a:rPr>
              <a:t>Gemini for natural language risk explanations, Vertex AI for enhanced anomaly detection</a:t>
            </a:r>
            <a:endParaRPr sz="12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2800" b="1" i="0" u="none" strike="noStrike" cap="none" dirty="0">
                <a:solidFill>
                  <a:srgbClr val="34A853"/>
                </a:solidFill>
                <a:latin typeface="Google Sans"/>
              </a:rPr>
              <a:t>MVP Total Cost: $20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300" b="1" i="0" u="none" strike="noStrike" cap="none" dirty="0">
                <a:solidFill>
                  <a:srgbClr val="000000"/>
                </a:solidFill>
                <a:latin typeface="Google Sans"/>
              </a:rPr>
              <a:t>Component           Current (MVP)         Scale-Up Option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har char="•"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Maps API:  $10 (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Google Sans"/>
              </a:rPr>
              <a:t>OpenStreetMap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/OSRM)   →  Google Maps Platform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har char="•"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Weather API:  $10 (free tier, 60 calls/min)   →  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Google Sans"/>
              </a:rPr>
              <a:t>OpenWeatherMap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 Pro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har char="•"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ML Model:  $0 (self-hosted)   →  Vertex AI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har char="•"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Database:  $0 (Firebase free tier)   →  Firebase Blaze plan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har char="•"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Hosting:  $0 (local/</a:t>
            </a:r>
            <a:r>
              <a:rPr lang="en-GB" sz="1200" b="0" i="0" u="none" strike="noStrike" cap="none" dirty="0" err="1">
                <a:solidFill>
                  <a:srgbClr val="000000"/>
                </a:solidFill>
                <a:latin typeface="Google Sans"/>
              </a:rPr>
              <a:t>dev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Google Sans"/>
              </a:rPr>
              <a:t>)   →  Google Cloud Run (~$10-30/month for production)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- Tested Endpoints (All Green)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✅"/>
            </a:pPr>
            <a:r>
              <a:rPr lang="en-GB" sz="1300" b="1" i="0" u="none" strike="noStrike" cap="none">
                <a:solidFill>
                  <a:srgbClr val="34A853"/>
                </a:solidFill>
                <a:latin typeface="Consolas"/>
              </a:rPr>
              <a:t>GET /health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Consolas"/>
              </a:rPr>
              <a:t>→ 200 OK  {"status": "healthy"}  (&lt;100ms)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✅"/>
            </a:pPr>
            <a:r>
              <a:rPr lang="en-GB" sz="1300" b="1" i="0" u="none" strike="noStrike" cap="none">
                <a:solidFill>
                  <a:srgbClr val="34A853"/>
                </a:solidFill>
                <a:latin typeface="Consolas"/>
              </a:rPr>
              <a:t>GET /distance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Consolas"/>
              </a:rPr>
              <a:t>→ 200 OK  Mumbai-Rotterdam: 9696.8 km, 14.4 days  (~500ms)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✅"/>
            </a:pPr>
            <a:r>
              <a:rPr lang="en-GB" sz="1300" b="1" i="0" u="none" strike="noStrike" cap="none">
                <a:solidFill>
                  <a:srgbClr val="34A853"/>
                </a:solidFill>
                <a:latin typeface="Consolas"/>
              </a:rPr>
              <a:t>GET /weather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Consolas"/>
              </a:rPr>
              <a:t>→ 200 OK  Dubai: 32.5°C, wind 18.3 km/h  (~1s)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✅"/>
            </a:pPr>
            <a:r>
              <a:rPr lang="en-GB" sz="1300" b="1" i="0" u="none" strike="noStrike" cap="none">
                <a:solidFill>
                  <a:srgbClr val="34A853"/>
                </a:solidFill>
                <a:latin typeface="Consolas"/>
              </a:rPr>
              <a:t>GET /route-weather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Consolas"/>
              </a:rPr>
              <a:t>→ 200 OK  Mumbai-Rotterdam route risk: 59.0/100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✅"/>
            </a:pPr>
            <a:r>
              <a:rPr lang="en-GB" sz="1300" b="1" i="0" u="none" strike="noStrike" cap="none">
                <a:solidFill>
                  <a:srgbClr val="34A853"/>
                </a:solidFill>
                <a:latin typeface="Consolas"/>
              </a:rPr>
              <a:t>POST /risk/analyze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Consolas"/>
              </a:rPr>
              <a:t>→ 200 OK  Risk: 44.68/100 (medium) + full breakdown  (&lt;2s)</a:t>
            </a:r>
          </a:p>
          <a:p>
            <a:pPr marL="457200" marR="0" lvl="1" indent="-34290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har char="✅"/>
            </a:pPr>
            <a:r>
              <a:rPr lang="en-GB" sz="1300" b="1" i="0" u="none" strike="noStrike" cap="none">
                <a:solidFill>
                  <a:srgbClr val="34A853"/>
                </a:solidFill>
                <a:latin typeface="Consolas"/>
              </a:rPr>
              <a:t>GET /shipments/live  |  GET /alerts  |  POST /reroute </a:t>
            </a:r>
            <a:r>
              <a:rPr lang="en-GB" sz="1300" b="0" i="0" u="none" strike="noStrike" cap="none">
                <a:solidFill>
                  <a:srgbClr val="000000"/>
                </a:solidFill>
                <a:latin typeface="Consolas"/>
              </a:rPr>
              <a:t>→ 200 OK  All verified. 8/8 endpoint categories passing.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19900" y="2857580"/>
            <a:ext cx="8572500" cy="2072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800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Future Development</a:t>
            </a:r>
          </a:p>
          <a:p>
            <a:pPr marL="457200" lvl="1" indent="-342900">
              <a:spcBef>
                <a:spcPts val="200"/>
              </a:spcBef>
              <a:buChar char="●"/>
            </a:pPr>
            <a:r>
              <a:rPr lang="en-GB" sz="1300" b="1" dirty="0">
                <a:solidFill>
                  <a:srgbClr val="4285F4"/>
                </a:solidFill>
                <a:latin typeface="Google Sans"/>
              </a:rPr>
              <a:t>Gemini Integration: </a:t>
            </a:r>
            <a:r>
              <a:rPr lang="en-GB" sz="1300" dirty="0">
                <a:latin typeface="Google Sans"/>
              </a:rPr>
              <a:t>Natural language risk explanations - "Your shipment is at medium risk due to port congestion in Rotterdam, here’s what to do"</a:t>
            </a:r>
          </a:p>
          <a:p>
            <a:pPr marL="457200" lvl="1" indent="-342900">
              <a:spcBef>
                <a:spcPts val="200"/>
              </a:spcBef>
              <a:buChar char="●"/>
            </a:pPr>
            <a:r>
              <a:rPr lang="en-GB" sz="1300" b="1" dirty="0">
                <a:solidFill>
                  <a:srgbClr val="EA4335"/>
                </a:solidFill>
                <a:latin typeface="Google Sans"/>
              </a:rPr>
              <a:t>Vertex AI: </a:t>
            </a:r>
            <a:r>
              <a:rPr lang="en-GB" sz="1300" dirty="0">
                <a:latin typeface="Google Sans"/>
              </a:rPr>
              <a:t>Enhanced anomaly detection using historical patterns from the 500K international shipment dataset</a:t>
            </a:r>
          </a:p>
          <a:p>
            <a:pPr marL="457200" lvl="1" indent="-342900">
              <a:spcBef>
                <a:spcPts val="200"/>
              </a:spcBef>
              <a:buChar char="●"/>
            </a:pPr>
            <a:r>
              <a:rPr lang="en-GB" sz="1300" b="1" dirty="0">
                <a:solidFill>
                  <a:srgbClr val="34A853"/>
                </a:solidFill>
                <a:latin typeface="Google Sans"/>
              </a:rPr>
              <a:t>Google Maps Platform: </a:t>
            </a:r>
            <a:r>
              <a:rPr lang="en-GB" sz="1300" dirty="0">
                <a:latin typeface="Google Sans"/>
              </a:rPr>
              <a:t>Premium maritime routing with real-time port traffic and lane-level congestion data</a:t>
            </a:r>
          </a:p>
          <a:p>
            <a:pPr marL="457200" lvl="1" indent="-342900">
              <a:spcBef>
                <a:spcPts val="200"/>
              </a:spcBef>
              <a:buChar char="●"/>
            </a:pPr>
            <a:r>
              <a:rPr lang="en-GB" sz="1300" b="1" dirty="0">
                <a:solidFill>
                  <a:srgbClr val="FBBC04"/>
                </a:solidFill>
                <a:latin typeface="Google Sans"/>
              </a:rPr>
              <a:t>Google Cloud Run: </a:t>
            </a:r>
            <a:r>
              <a:rPr lang="en-GB" sz="1300" dirty="0">
                <a:latin typeface="Google Sans"/>
              </a:rPr>
              <a:t>Auto-scaling containerized deployment, multi-region support for enterprise customers</a:t>
            </a:r>
            <a:endParaRPr lang="en-GB"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53000"/>
          </a:schemeClr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260277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chemeClr val="bg1"/>
                </a:solidFill>
                <a:latin typeface="Google Sans"/>
                <a:ea typeface="Google Sans"/>
                <a:cs typeface="Google Sans"/>
                <a:sym typeface="Google Sans"/>
              </a:rPr>
              <a:t>User Case Diagram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bg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021" y="589346"/>
            <a:ext cx="4683760" cy="4496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Project Links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 </a:t>
            </a: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https://github.com/Hars505/Smart-chain-supply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Minutes): </a:t>
            </a: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https://github.com/Hars505/Smart-chain-supply/blob/main/Smart-chain-supply_demo_video.mp4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Link:</a:t>
            </a: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 https://hars505.github.io/Smart-chain-supply/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Prototype: http://localhost:8000/docs (</a:t>
            </a:r>
            <a:r>
              <a:rPr lang="en-GB" sz="1800" dirty="0" err="1">
                <a:latin typeface="Google Sans"/>
                <a:ea typeface="Google Sans"/>
                <a:cs typeface="Google Sans"/>
                <a:sym typeface="Google Sans"/>
              </a:rPr>
              <a:t>FastAPI</a:t>
            </a: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 auto-docs)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C:\Users\kalpe\Downloads\dash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256" y="822959"/>
            <a:ext cx="7387610" cy="3744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1268</Words>
  <Application>Microsoft Office PowerPoint</Application>
  <PresentationFormat>On-screen Show (16:9)</PresentationFormat>
  <Paragraphs>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Google Sans</vt:lpstr>
      <vt:lpstr>Consolas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sahilkatariya132</dc:creator>
  <cp:lastModifiedBy>Harshil Panchal</cp:lastModifiedBy>
  <cp:revision>8</cp:revision>
  <dcterms:modified xsi:type="dcterms:W3CDTF">2026-04-28T18:15:34Z</dcterms:modified>
</cp:coreProperties>
</file>